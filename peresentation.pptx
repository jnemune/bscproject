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0"/>
  </p:notesMasterIdLst>
  <p:handoutMasterIdLst>
    <p:handoutMasterId r:id="rId31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3" r:id="rId16"/>
    <p:sldId id="322" r:id="rId17"/>
    <p:sldId id="297" r:id="rId18"/>
    <p:sldId id="324" r:id="rId19"/>
    <p:sldId id="325" r:id="rId20"/>
    <p:sldId id="326" r:id="rId21"/>
    <p:sldId id="327" r:id="rId22"/>
    <p:sldId id="328" r:id="rId23"/>
    <p:sldId id="330" r:id="rId24"/>
    <p:sldId id="331" r:id="rId25"/>
    <p:sldId id="329" r:id="rId26"/>
    <p:sldId id="332" r:id="rId27"/>
    <p:sldId id="333" r:id="rId28"/>
    <p:sldId id="334" r:id="rId2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 varScale="1">
        <p:scale>
          <a:sx n="91" d="100"/>
          <a:sy n="91" d="100"/>
        </p:scale>
        <p:origin x="322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3409-D037-4544-0B7D-F0408787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9B44B-A2F7-8028-46DE-FC9B5F068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4F868-03FF-6CCD-9E08-6A6768928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457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D4BCC-A4F1-135C-8BE4-E07E541E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8882A-EB32-CBD0-4966-8978964D4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9F8E3-C48F-76FE-91DB-113296F7F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32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C0EB2-0BE7-9366-A9FF-0877EBF5A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3D6E3-1673-5A25-9442-8B9E57A69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F4365-4FAE-0625-DA26-99477658E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824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F848-FA59-D9D8-C681-CA0491D9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F50738-376F-682A-1D96-FFB05011A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E18AA-92EF-FCAD-2443-51B2D64AD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731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47728-ED6D-904E-C40B-6A5AB6A4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2D595-9EE7-CCB3-C9CE-5FAA2C6B0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BBE79-439C-753C-F2C6-E239DFCA8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738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5A71-98A5-BA9E-860A-501207A1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070A0-9E15-FE26-C793-EDEB21ABF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1B190-4E10-573B-11C9-A5459CA3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985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7096E-613D-D393-80E1-32F1390E0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7C580-6286-0541-5EE6-360697683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94E2A-6722-BC5C-912E-D5B928B93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600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7D88-25CD-4A5B-F115-C589B2A6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827C5-45E5-9D51-C5D6-B8093BFD0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B67CB-20BE-12B0-0780-CA21ED2B5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4168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5C81-CBBB-72F7-779B-1C686B8A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6DC08-49CE-B9B3-D42B-CF4E2EC027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3DA21-10FA-587F-C181-66DCB3129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31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7F90-2104-ECD9-46F0-D7A0DA600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CF2F6-B234-B45B-D3AB-A16FD95E9E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E806B-FC7B-1B2D-5759-0C628D564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8652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F974-E6CA-F63F-1CF6-F3A97E14D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ECDD8-3ABE-EACA-09C5-73F336CC2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225D0-ED68-3510-8DA8-57A7613F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716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901F5-E36F-D4D0-1DFF-7C5F05A8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8050B-ED00-E78D-1F1E-4B32C2717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A7EC7-4BAA-FF13-EEAB-7D746B14F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48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emf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fa-IR" dirty="0">
                <a:cs typeface="B Nazanin" panose="00000400000000000000" pitchFamily="2" charset="-78"/>
              </a:rPr>
              <a:t>طراحی </a:t>
            </a:r>
            <a:r>
              <a:rPr lang="fa-IR" dirty="0" err="1">
                <a:cs typeface="B Nazanin" panose="00000400000000000000" pitchFamily="2" charset="-78"/>
              </a:rPr>
              <a:t>کنترلر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fa-IR" dirty="0" err="1">
                <a:cs typeface="B Nazanin" panose="00000400000000000000" pitchFamily="2" charset="-78"/>
              </a:rPr>
              <a:t>جرثقیل‌های</a:t>
            </a:r>
            <a:r>
              <a:rPr lang="fa-IR" dirty="0">
                <a:cs typeface="B Nazanin" panose="00000400000000000000" pitchFamily="2" charset="-78"/>
              </a:rPr>
              <a:t> سقفی با قید محدودیت دامنه نوسان رد طول مسیر و حذف نوسانات </a:t>
            </a:r>
            <a:r>
              <a:rPr lang="fa-IR" dirty="0" err="1">
                <a:cs typeface="B Nazanin" panose="00000400000000000000" pitchFamily="2" charset="-78"/>
              </a:rPr>
              <a:t>پسماند</a:t>
            </a:r>
            <a:r>
              <a:rPr lang="fa-IR" dirty="0">
                <a:cs typeface="B Nazanin" panose="00000400000000000000" pitchFamily="2" charset="-78"/>
              </a:rPr>
              <a:t> از طریق کنترل طول کابل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pPr algn="r"/>
            <a:r>
              <a:rPr lang="fa-IR" dirty="0"/>
              <a:t>پروژه تخصصی کارشناسی</a:t>
            </a:r>
            <a:br>
              <a:rPr lang="fa-IR" dirty="0"/>
            </a:br>
            <a:r>
              <a:rPr lang="fa-IR" dirty="0"/>
              <a:t>رشته مهندسی مکانیک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pPr algn="r"/>
            <a:r>
              <a:rPr lang="fa-IR" dirty="0"/>
              <a:t>محمد جواد محمدی</a:t>
            </a:r>
            <a:endParaRPr lang="en-US" dirty="0"/>
          </a:p>
          <a:p>
            <a:pPr algn="r"/>
            <a:r>
              <a:rPr lang="fa-IR" dirty="0"/>
              <a:t>استاد راهنما: دکتر محمد جعفر صدیق دامغانی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0712" y="3996218"/>
            <a:ext cx="5723586" cy="1933402"/>
          </a:xfrm>
        </p:spPr>
        <p:txBody>
          <a:bodyPr/>
          <a:lstStyle/>
          <a:p>
            <a:r>
              <a:rPr lang="fa-IR" dirty="0"/>
              <a:t>مقدمه و کلیات تحقیق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56D11-B502-DD8C-C063-B6D231BEE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28" y="677236"/>
            <a:ext cx="7830962" cy="331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440" y="3917659"/>
            <a:ext cx="2835479" cy="1085940"/>
          </a:xfrm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معرفی سیستم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753532-5A5E-4AF3-B7FD-52DD49F5A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961" y="946120"/>
            <a:ext cx="4548245" cy="2482880"/>
          </a:xfrm>
          <a:prstGeom prst="rect">
            <a:avLst/>
          </a:prstGeom>
        </p:spPr>
      </p:pic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5A3BE52-7C28-2B33-3C34-086447350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145299"/>
              </p:ext>
            </p:extLst>
          </p:nvPr>
        </p:nvGraphicFramePr>
        <p:xfrm>
          <a:off x="618542" y="946120"/>
          <a:ext cx="5584825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4" imgW="5585070" imgH="2841870" progId="Acrobat.Document.DC">
                  <p:embed/>
                </p:oleObj>
              </mc:Choice>
              <mc:Fallback>
                <p:oleObj name="Acrobat Document" r:id="rId4" imgW="5585070" imgH="2841870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8542" y="946120"/>
                        <a:ext cx="5584825" cy="2841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FFD3046E-D954-A5F9-A637-00D1770CA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42" y="4096521"/>
            <a:ext cx="7182802" cy="6097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93F34C-3E14-FD04-D1D1-00E026017F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5755" y="4790379"/>
            <a:ext cx="60483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1996" y="1057274"/>
            <a:ext cx="2584030" cy="994164"/>
          </a:xfrm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فضای حالت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AA8826-3D77-D5F5-DDD5-3B7139EE0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394" y="1542701"/>
            <a:ext cx="4911575" cy="24840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448F40-7D1A-577C-25FC-BECFB0215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394" y="3783478"/>
            <a:ext cx="3505200" cy="2847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8A01DF-964B-C885-1625-603AF7903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594" y="4026715"/>
            <a:ext cx="1406375" cy="260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6107" y="1098958"/>
            <a:ext cx="2029534" cy="733623"/>
          </a:xfrm>
        </p:spPr>
        <p:txBody>
          <a:bodyPr/>
          <a:lstStyle/>
          <a:p>
            <a:r>
              <a:rPr lang="fa-IR" dirty="0">
                <a:cs typeface="B Nazanin" panose="00000400000000000000" pitchFamily="2" charset="-78"/>
              </a:rPr>
              <a:t>خطی سازی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51E20F-F6AC-3357-F317-4E4C1B0BF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99" y="928688"/>
            <a:ext cx="3400425" cy="2638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2FDCFF-01CB-2470-A3A0-6FD0A6528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499" y="3567113"/>
            <a:ext cx="4039766" cy="31928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3960A0-3BC9-131A-2A5C-9CE20E387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174" y="3567113"/>
            <a:ext cx="1826636" cy="31928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524242A-E62A-9736-2CDA-6C26A35B6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8924" y="928688"/>
            <a:ext cx="2418886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900" y="833846"/>
            <a:ext cx="7796464" cy="815449"/>
          </a:xfrm>
        </p:spPr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مدل فیزیکی در محیط </a:t>
            </a:r>
            <a:r>
              <a:rPr lang="en-US" b="0" dirty="0">
                <a:cs typeface="B Nazanin" panose="00000400000000000000" pitchFamily="2" charset="-78"/>
              </a:rPr>
              <a:t>SIMSCAPE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161097-E01D-00B0-4719-5F38F2D12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00" y="1884945"/>
            <a:ext cx="7792544" cy="2242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75B457-5A64-9C99-1238-A1D875950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344" y="4127779"/>
            <a:ext cx="7792544" cy="227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 err="1"/>
              <a:t>Lqr</a:t>
            </a:r>
            <a:r>
              <a:rPr lang="en-US" dirty="0"/>
              <a:t> design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8782" y="2202796"/>
            <a:ext cx="4219837" cy="4143375"/>
          </a:xfrm>
        </p:spPr>
        <p:txBody>
          <a:bodyPr>
            <a:normAutofit/>
          </a:bodyPr>
          <a:lstStyle/>
          <a:p>
            <a:r>
              <a:rPr lang="en-US" dirty="0"/>
              <a:t>m = 0.2;</a:t>
            </a:r>
          </a:p>
          <a:p>
            <a:r>
              <a:rPr lang="en-US" dirty="0"/>
              <a:t>M = 1;</a:t>
            </a:r>
          </a:p>
          <a:p>
            <a:r>
              <a:rPr lang="en-US" dirty="0"/>
              <a:t>g = 9.81;</a:t>
            </a:r>
          </a:p>
          <a:p>
            <a:r>
              <a:rPr lang="en-US" dirty="0" err="1"/>
              <a:t>bc</a:t>
            </a:r>
            <a:r>
              <a:rPr lang="en-US" dirty="0"/>
              <a:t> = 0.1;</a:t>
            </a:r>
          </a:p>
          <a:p>
            <a:r>
              <a:rPr lang="en-US" dirty="0"/>
              <a:t>bp = 0.05;</a:t>
            </a:r>
          </a:p>
          <a:p>
            <a:r>
              <a:rPr lang="en-US" dirty="0"/>
              <a:t>l0 = 0.5; </a:t>
            </a:r>
          </a:p>
          <a:p>
            <a:r>
              <a:rPr lang="en-US" dirty="0"/>
              <a:t>x0 = -0.5; % or -5</a:t>
            </a:r>
          </a:p>
          <a:p>
            <a:r>
              <a:rPr lang="en-US" dirty="0"/>
              <a:t>Q = </a:t>
            </a:r>
            <a:r>
              <a:rPr lang="en-US" dirty="0" err="1"/>
              <a:t>diag</a:t>
            </a:r>
            <a:r>
              <a:rPr lang="en-US" dirty="0"/>
              <a:t>([1000, 10, 500, 10]);</a:t>
            </a:r>
          </a:p>
          <a:p>
            <a:r>
              <a:rPr lang="en-US" dirty="0"/>
              <a:t>K = [31.6228   14.0488  -17.7264    0.3611]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158542-0BF2-FB6D-656B-68D46DCEA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776" y="1602298"/>
            <a:ext cx="5569154" cy="344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780" y="1057274"/>
            <a:ext cx="7843837" cy="1012782"/>
          </a:xfrm>
        </p:spPr>
        <p:txBody>
          <a:bodyPr/>
          <a:lstStyle/>
          <a:p>
            <a:r>
              <a:rPr lang="en-US" dirty="0"/>
              <a:t>NMPC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577697B-5887-44B2-0E92-EADB49AB5818}"/>
              </a:ext>
            </a:extLst>
          </p:cNvPr>
          <p:cNvSpPr txBox="1">
            <a:spLocks/>
          </p:cNvSpPr>
          <p:nvPr/>
        </p:nvSpPr>
        <p:spPr>
          <a:xfrm>
            <a:off x="7577829" y="3082838"/>
            <a:ext cx="2860646" cy="4143375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Ts = 0.05;</a:t>
            </a:r>
          </a:p>
          <a:p>
            <a:pPr marL="0" indent="0">
              <a:buNone/>
            </a:pPr>
            <a:r>
              <a:rPr lang="en-US" sz="1600" dirty="0" err="1"/>
              <a:t>prediction_horizon</a:t>
            </a:r>
            <a:r>
              <a:rPr lang="en-US" sz="1600" dirty="0"/>
              <a:t> = 25;</a:t>
            </a:r>
          </a:p>
          <a:p>
            <a:pPr marL="0" indent="0">
              <a:buNone/>
            </a:pPr>
            <a:r>
              <a:rPr lang="en-US" sz="1600" dirty="0" err="1"/>
              <a:t>control_horizon</a:t>
            </a:r>
            <a:r>
              <a:rPr lang="en-US" sz="1600" dirty="0"/>
              <a:t> = 5;</a:t>
            </a:r>
          </a:p>
          <a:p>
            <a:pPr marL="0" indent="0">
              <a:buNone/>
            </a:pPr>
            <a:r>
              <a:rPr lang="en-US" sz="1600" dirty="0" err="1"/>
              <a:t>theta_max</a:t>
            </a:r>
            <a:r>
              <a:rPr lang="en-US" sz="1600" dirty="0"/>
              <a:t> = deg2rad(15); </a:t>
            </a:r>
          </a:p>
          <a:p>
            <a:pPr marL="0" indent="0">
              <a:buNone/>
            </a:pPr>
            <a:r>
              <a:rPr lang="en-US" sz="1600" dirty="0" err="1"/>
              <a:t>l_max</a:t>
            </a:r>
            <a:r>
              <a:rPr lang="en-US" sz="1600" dirty="0"/>
              <a:t> = 1.5;</a:t>
            </a:r>
          </a:p>
          <a:p>
            <a:pPr marL="0" indent="0">
              <a:buNone/>
            </a:pPr>
            <a:r>
              <a:rPr lang="en-US" sz="1600" dirty="0" err="1"/>
              <a:t>l_min</a:t>
            </a:r>
            <a:r>
              <a:rPr lang="en-US" sz="1600" dirty="0"/>
              <a:t> = 0.1;</a:t>
            </a:r>
          </a:p>
          <a:p>
            <a:pPr marL="0" indent="0">
              <a:buNone/>
            </a:pPr>
            <a:r>
              <a:rPr lang="en-US" sz="1600" dirty="0" err="1"/>
              <a:t>f_max</a:t>
            </a:r>
            <a:r>
              <a:rPr lang="en-US" sz="1600" dirty="0"/>
              <a:t> = 50;</a:t>
            </a:r>
          </a:p>
          <a:p>
            <a:pPr marL="0" indent="0">
              <a:buNone/>
            </a:pPr>
            <a:r>
              <a:rPr lang="en-US" sz="1600" dirty="0" err="1"/>
              <a:t>l_ddot_max</a:t>
            </a:r>
            <a:r>
              <a:rPr lang="en-US" sz="1600" dirty="0"/>
              <a:t> = 5;</a:t>
            </a:r>
          </a:p>
          <a:p>
            <a:pPr marL="0" indent="0">
              <a:buNone/>
            </a:pPr>
            <a:r>
              <a:rPr lang="en-US" sz="1600" dirty="0"/>
              <a:t>Q = [150, 20, 300, 20, 50, 10];</a:t>
            </a:r>
          </a:p>
          <a:p>
            <a:pPr marL="0" indent="0">
              <a:buNone/>
            </a:pPr>
            <a:r>
              <a:rPr lang="en-US" sz="1600" dirty="0"/>
              <a:t>R = [1, 1];</a:t>
            </a:r>
          </a:p>
          <a:p>
            <a:pPr marL="0" indent="0">
              <a:buNone/>
            </a:pPr>
            <a:r>
              <a:rPr lang="en-US" sz="1600" dirty="0" err="1"/>
              <a:t>R_delta</a:t>
            </a:r>
            <a:r>
              <a:rPr lang="en-US" sz="1600" dirty="0"/>
              <a:t> = [150, 150];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7F676D-AC05-F559-998C-13EBE116D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80" y="2155785"/>
            <a:ext cx="7121306" cy="420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Trajectory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A6191C-77AF-0D90-C56D-F42D8AEDB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63" y="2070057"/>
            <a:ext cx="3482130" cy="2466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451DBB-76B1-1238-4446-6FBAEEA8E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0564" y="4542858"/>
            <a:ext cx="3482130" cy="8655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6013E1-5FFE-BDB7-0781-051D80D7BF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93" y="2063765"/>
            <a:ext cx="6733258" cy="24790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7D4E68-7C69-FAD4-A5BC-07F8994B3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94" y="4536566"/>
            <a:ext cx="6733257" cy="86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 err="1"/>
              <a:t>Simscape</a:t>
            </a:r>
            <a:r>
              <a:rPr lang="en-US" dirty="0"/>
              <a:t> </a:t>
            </a:r>
            <a:r>
              <a:rPr lang="en-US" dirty="0" err="1"/>
              <a:t>impelementation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2E4BFE-5850-AA4A-DCBD-63B12A43F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186" y="2057020"/>
            <a:ext cx="6846816" cy="42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BDD5-FFFA-9736-B42D-55355ED7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C20C1C-D99C-7F9A-503B-4D710ECC5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8A5468-9AF8-80EF-E2F8-D36141E1F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186" y="1103628"/>
            <a:ext cx="10162160" cy="478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23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B08849DB-AAE5-FB75-D9FC-A33796C4B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Forces on wheels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04BA05F-735F-4E5A-66B1-D88FABC286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480470"/>
              </p:ext>
            </p:extLst>
          </p:nvPr>
        </p:nvGraphicFramePr>
        <p:xfrm>
          <a:off x="1105104" y="2294663"/>
          <a:ext cx="4658133" cy="395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3642289" imgH="3093649" progId="Acrobat.Document.DC">
                  <p:embed/>
                </p:oleObj>
              </mc:Choice>
              <mc:Fallback>
                <p:oleObj name="Acrobat Document" r:id="rId3" imgW="3642289" imgH="3093649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5104" y="2294663"/>
                        <a:ext cx="4658133" cy="3957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534A34E3-B3C8-6D26-F6AD-BF907CE85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3237" y="2294662"/>
            <a:ext cx="5980104" cy="8512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E1A62D-9D53-0F25-8590-E23C282F85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3237" y="3145871"/>
            <a:ext cx="4638675" cy="704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63306-BC0F-82AA-535B-556CEBE57F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3237" y="3850721"/>
            <a:ext cx="2190750" cy="2105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493A66-F007-A98A-9CBB-6E51857333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9224" y="3850721"/>
            <a:ext cx="1228725" cy="21050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CC124D-B688-98FD-5E7B-3FC27CC39F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3237" y="5955746"/>
            <a:ext cx="3414712" cy="2965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2E6137-F934-C121-2622-2EFAA51A98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0806" y="3850721"/>
            <a:ext cx="1228725" cy="24015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42164C3-5067-D217-B81E-D68632FBFD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7930" y="3047127"/>
            <a:ext cx="1335411" cy="32051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3FCAFB-2741-DCA9-CC8F-95930E4985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1636" y="3674508"/>
            <a:ext cx="2034713" cy="12287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671489A-F378-F673-DEF5-79D9137D07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7607" y="3912633"/>
            <a:ext cx="22860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6744748" cy="618291"/>
          </a:xfrm>
        </p:spPr>
        <p:txBody>
          <a:bodyPr/>
          <a:lstStyle/>
          <a:p>
            <a:r>
              <a:rPr lang="en-US" dirty="0"/>
              <a:t>Results LQR setpoint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31E6B-AF31-A2E1-CABF-EA5F7F068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45" y="1513352"/>
            <a:ext cx="5546958" cy="503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61FFA-A08E-340E-110C-3204B529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1F8A10-D849-F396-7CFB-65955A5C8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448" y="712628"/>
            <a:ext cx="6432992" cy="592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00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5D348-AA06-EE28-51B6-5BD36557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F5D9D5B-3F34-3BD9-707B-652B5C94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22" y="229837"/>
            <a:ext cx="5043183" cy="698003"/>
          </a:xfrm>
        </p:spPr>
        <p:txBody>
          <a:bodyPr/>
          <a:lstStyle/>
          <a:p>
            <a:r>
              <a:rPr lang="en-US" dirty="0" err="1"/>
              <a:t>LQr</a:t>
            </a:r>
            <a:r>
              <a:rPr lang="en-US" dirty="0"/>
              <a:t> Trajectory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8DA6A-048B-2230-EDBD-A62ACE22B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427" y="927840"/>
            <a:ext cx="5400705" cy="5581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F76252-FE8A-61DC-C516-30A9E377D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00" y="927840"/>
            <a:ext cx="5400705" cy="559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41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94F0E-2864-AF70-50AC-A5673D3A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B8C5CBC-48DD-1FE6-4260-AF66F223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22" y="406006"/>
            <a:ext cx="5043183" cy="698003"/>
          </a:xfrm>
        </p:spPr>
        <p:txBody>
          <a:bodyPr/>
          <a:lstStyle/>
          <a:p>
            <a:r>
              <a:rPr lang="en-US" dirty="0" err="1"/>
              <a:t>Nmpc</a:t>
            </a:r>
            <a:r>
              <a:rPr lang="en-US" dirty="0"/>
              <a:t> setpoint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33C98F-2A0D-2C43-DB28-49E9E8852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641" y="1198427"/>
            <a:ext cx="5407244" cy="46761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8788E7-687E-EF35-4C54-6D44084EF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41" y="1198427"/>
            <a:ext cx="5631459" cy="466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72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55DD-7DF8-2E67-2AA1-319E5E462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53B337C-632B-0069-5B9D-7D6053C6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21" y="406006"/>
            <a:ext cx="5378743" cy="698003"/>
          </a:xfrm>
        </p:spPr>
        <p:txBody>
          <a:bodyPr/>
          <a:lstStyle/>
          <a:p>
            <a:r>
              <a:rPr lang="en-US" dirty="0" err="1"/>
              <a:t>Nmpc</a:t>
            </a:r>
            <a:r>
              <a:rPr lang="en-US" dirty="0"/>
              <a:t> trajectory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AFF2B-2F10-220C-85F3-5B71E1B13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89" y="1182848"/>
            <a:ext cx="5203816" cy="4984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49E291-E586-3FE8-732A-F59C7BEC7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48" y="1389237"/>
            <a:ext cx="545353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83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A8E6-4090-1F2E-1E1A-BD2EC328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069E564-A175-5371-973B-124E584DC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22" y="406006"/>
            <a:ext cx="5806581" cy="698003"/>
          </a:xfrm>
        </p:spPr>
        <p:txBody>
          <a:bodyPr/>
          <a:lstStyle/>
          <a:p>
            <a:r>
              <a:rPr lang="en-US" dirty="0" err="1"/>
              <a:t>Nmpc</a:t>
            </a:r>
            <a:r>
              <a:rPr lang="en-US" dirty="0"/>
              <a:t> Trajectory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21941A-CEE9-D7B3-5F60-F1C2FF9DC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577" y="1104010"/>
            <a:ext cx="5440557" cy="52212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FFD82-6C12-51DE-7423-2919B4A9B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42" y="1714036"/>
            <a:ext cx="5525135" cy="414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03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5A85-B85A-BB15-021F-0E04FED9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B5FD271-C0AB-518A-2B1D-89C2EB95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331" y="447952"/>
            <a:ext cx="3776444" cy="698003"/>
          </a:xfrm>
        </p:spPr>
        <p:txBody>
          <a:bodyPr/>
          <a:lstStyle/>
          <a:p>
            <a:r>
              <a:rPr lang="en-US" dirty="0"/>
              <a:t>compare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0C702-9A7B-2B93-7A58-4536A7B14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028" y="1216404"/>
            <a:ext cx="5701286" cy="49411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C58EAA-7016-AA56-9C3C-E4B2F0D5B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66" y="2088858"/>
            <a:ext cx="4641662" cy="319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13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83D9-A991-9C73-7F7C-ACA5632D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9326E2B-9EDB-9AE0-DC4D-44948719E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22" y="406006"/>
            <a:ext cx="5043183" cy="698003"/>
          </a:xfrm>
        </p:spPr>
        <p:txBody>
          <a:bodyPr/>
          <a:lstStyle/>
          <a:p>
            <a:r>
              <a:rPr lang="en-US" dirty="0"/>
              <a:t>compare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432F39-E089-24DE-7748-15EFC28AD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95" y="1329350"/>
            <a:ext cx="5255048" cy="4333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4C46B3-847B-F07D-79F4-FA8078C27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057" y="1916580"/>
            <a:ext cx="4731848" cy="315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46611-0AD6-28C3-E135-44688069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B7DD23B-A6BE-4293-E27F-E722D63F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22" y="406006"/>
            <a:ext cx="3658999" cy="698003"/>
          </a:xfrm>
        </p:spPr>
        <p:txBody>
          <a:bodyPr/>
          <a:lstStyle/>
          <a:p>
            <a:r>
              <a:rPr lang="en-US" dirty="0"/>
              <a:t>compare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2DFB0B-1E85-2C0D-F430-ADC330DB5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187" y="1570606"/>
            <a:ext cx="5134783" cy="42597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33634A-E56C-5C2E-E00E-3584B7E28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22" y="1570606"/>
            <a:ext cx="5182274" cy="425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1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39600-9239-E5DC-575A-CA26B6248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589D048-34AF-ED21-2ACE-ACAD2B37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722" y="406006"/>
            <a:ext cx="5043183" cy="698003"/>
          </a:xfrm>
        </p:spPr>
        <p:txBody>
          <a:bodyPr/>
          <a:lstStyle/>
          <a:p>
            <a:r>
              <a:rPr lang="en-US" dirty="0"/>
              <a:t>Future works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29686E-B362-60DC-351F-DE616B002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50" y="1104009"/>
            <a:ext cx="5465367" cy="5711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ACDC49-A54B-F810-D61F-5F7A99B9A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07" y="1413502"/>
            <a:ext cx="4865615" cy="251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9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80B75-E76F-65BF-14DC-E9C9769E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39BEA1-8BCF-1FE4-5204-6C572F02A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550881"/>
            <a:ext cx="3942826" cy="1012785"/>
          </a:xfrm>
        </p:spPr>
        <p:txBody>
          <a:bodyPr/>
          <a:lstStyle/>
          <a:p>
            <a:r>
              <a:rPr lang="en-US" dirty="0" err="1"/>
              <a:t>refrences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641CB-B5A1-FDD3-61D4-C1F9B8E480E5}"/>
              </a:ext>
            </a:extLst>
          </p:cNvPr>
          <p:cNvSpPr txBox="1"/>
          <p:nvPr/>
        </p:nvSpPr>
        <p:spPr>
          <a:xfrm>
            <a:off x="1342239" y="2122415"/>
            <a:ext cx="971445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1400" dirty="0"/>
              <a:t>Ramli, L., Mohamed, Z., Abdullahi, A. M., et al. (2017). Control strategies for crane systems: A comprehensive review. Mechanical Systems and Signal Processing, 95, 1–23.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/>
              <a:t>Ramli, L., Mohamed, Z., &amp; Jaafar, H. I. (2018). A neural network-based input shaping for swing suppression of an overhead crane. Mechanical Systems and Signal Processing.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/>
              <a:t>Sun, N., Wu, Y., Chen, H., &amp; Fang, Y. (2018). An energy-optimal solution for transportation control of cranes with double pendulum dynamics. Mechanical Systems and Signal Processing, 102, 87–101.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/>
              <a:t>Golovin, I., &amp; Palis, S. (2017). Design of parallel feed-forward compensator and its application to electromechanical system with friction load. IFAC-</a:t>
            </a:r>
            <a:r>
              <a:rPr lang="en-US" sz="1400" dirty="0" err="1"/>
              <a:t>PapersOnLine</a:t>
            </a:r>
            <a:r>
              <a:rPr lang="en-US" sz="1400" dirty="0"/>
              <a:t>, 50(1), 15524–15529.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 err="1"/>
              <a:t>Homaeinezhad</a:t>
            </a:r>
            <a:r>
              <a:rPr lang="en-US" sz="1400" dirty="0"/>
              <a:t>, M. R., Mousavi Alvar, M. M., </a:t>
            </a:r>
            <a:r>
              <a:rPr lang="en-US" sz="1400" dirty="0" err="1"/>
              <a:t>Soordi</a:t>
            </a:r>
            <a:r>
              <a:rPr lang="en-US" sz="1400" dirty="0"/>
              <a:t>, A., et al. (2026). Solution to asymptotic stability in tracking control of nonlinear systems with control input differentiation, actuator dynamics, and saturation constraints. IET Control Theory &amp; Applications.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 err="1"/>
              <a:t>Allgöwer</a:t>
            </a:r>
            <a:r>
              <a:rPr lang="en-US" sz="1400" dirty="0"/>
              <a:t>, F., Findeisen, R., &amp; Nagy, Z. K. (2004). Nonlinear Model Predictive Control: From Theory to Application. Journal of the Chinese Institute of Chemical Engineers, 35(3), 299–316.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/>
              <a:t>Zak, S. H. (2017). An Introduction to Model-Based Predictive Control (MPC). Purdue University, ECE680 Lecture Notes.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/>
              <a:t>Anderson, B. D. O., &amp; Moore, J. B. (1990). Optimal Control: Linear Quadratic Methods. Prentice Hall.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1400" dirty="0"/>
              <a:t>Kettler, M., </a:t>
            </a:r>
            <a:r>
              <a:rPr lang="en-US" sz="1400" dirty="0" err="1"/>
              <a:t>Zauchner</a:t>
            </a:r>
            <a:r>
              <a:rPr lang="en-US" sz="1400" dirty="0"/>
              <a:t>, P., &amp; Unterweger, H. (2020). Determination of wheel loads from runway cranes based on rail strain measurement. Engineering Structures, 213, 110546.</a:t>
            </a:r>
          </a:p>
        </p:txBody>
      </p:sp>
    </p:spTree>
    <p:extLst>
      <p:ext uri="{BB962C8B-B14F-4D97-AF65-F5344CB8AC3E}">
        <p14:creationId xmlns:p14="http://schemas.microsoft.com/office/powerpoint/2010/main" val="3873464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C41E-23B5-36B1-B97C-998AFE52E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E1B44F-9BCF-499E-4A2B-3504907BD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456" y="1534137"/>
            <a:ext cx="7624195" cy="3252830"/>
          </a:xfrm>
        </p:spPr>
        <p:txBody>
          <a:bodyPr/>
          <a:lstStyle/>
          <a:p>
            <a:r>
              <a:rPr lang="fa-IR" dirty="0"/>
              <a:t>از توجه شما متشکرم</a:t>
            </a:r>
            <a:br>
              <a:rPr lang="fa-IR" dirty="0"/>
            </a:br>
            <a:br>
              <a:rPr lang="fa-IR" dirty="0"/>
            </a:br>
            <a:r>
              <a:rPr lang="fa-IR" dirty="0" err="1"/>
              <a:t>محمدجواد</a:t>
            </a:r>
            <a:r>
              <a:rPr lang="fa-IR" dirty="0"/>
              <a:t> محمدی</a:t>
            </a:r>
            <a:br>
              <a:rPr lang="fa-IR" dirty="0"/>
            </a:br>
            <a:r>
              <a:rPr lang="en-US" sz="1600" dirty="0"/>
              <a:t>m.javad.mohammadi@ut.ac.ir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7791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{E4063E94-8CEF-4B70-A3AA-09641EC17A2E}TF8a9b5915-b8c7-461e-8cdd-693d48b5e32371f7b7e2_win32-4bf0b9a2ea37</Template>
  <TotalTime>65</TotalTime>
  <Words>580</Words>
  <Application>Microsoft Office PowerPoint</Application>
  <PresentationFormat>Widescreen</PresentationFormat>
  <Paragraphs>64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B Nazanin</vt:lpstr>
      <vt:lpstr>Calibri</vt:lpstr>
      <vt:lpstr>Sabon Next LT</vt:lpstr>
      <vt:lpstr>Times New Roman</vt:lpstr>
      <vt:lpstr>Custom</vt:lpstr>
      <vt:lpstr>Acrobat Document</vt:lpstr>
      <vt:lpstr>طراحی کنترلر جرثقیل‌های سقفی با قید محدودیت دامنه نوسان رد طول مسیر و حذف نوسانات پسماند از طریق کنترل طول کابل</vt:lpstr>
      <vt:lpstr>پروژه تخصصی کارشناسی رشته مهندسی مکانیک</vt:lpstr>
      <vt:lpstr>مقدمه و کلیات تحقیق</vt:lpstr>
      <vt:lpstr>معرفی سیستم</vt:lpstr>
      <vt:lpstr>فضای حالت</vt:lpstr>
      <vt:lpstr>خطی سازی</vt:lpstr>
      <vt:lpstr>مدل فیزیکی در محیط SIMSCAPE</vt:lpstr>
      <vt:lpstr>Lqr design</vt:lpstr>
      <vt:lpstr>NMPC Design</vt:lpstr>
      <vt:lpstr>Trajectory</vt:lpstr>
      <vt:lpstr>Simscape impelementation</vt:lpstr>
      <vt:lpstr>PowerPoint Presentation</vt:lpstr>
      <vt:lpstr>Forces on wheels</vt:lpstr>
      <vt:lpstr>Results LQR setpoint</vt:lpstr>
      <vt:lpstr>PowerPoint Presentation</vt:lpstr>
      <vt:lpstr>LQr Trajectory</vt:lpstr>
      <vt:lpstr>Nmpc setpoint</vt:lpstr>
      <vt:lpstr>Nmpc trajectory</vt:lpstr>
      <vt:lpstr>Nmpc Trajectory</vt:lpstr>
      <vt:lpstr>compare</vt:lpstr>
      <vt:lpstr>compare</vt:lpstr>
      <vt:lpstr>compare</vt:lpstr>
      <vt:lpstr>Future works</vt:lpstr>
      <vt:lpstr>refrences</vt:lpstr>
      <vt:lpstr>از توجه شما متشکرم  محمدجواد محمدی m.javad.mohammadi@ut.ac.ir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M.Javad Mohammadi</dc:creator>
  <cp:lastModifiedBy>M.Javad Mohammadi</cp:lastModifiedBy>
  <cp:revision>2</cp:revision>
  <dcterms:created xsi:type="dcterms:W3CDTF">2026-09-23T05:08:36Z</dcterms:created>
  <dcterms:modified xsi:type="dcterms:W3CDTF">2026-09-23T06:29:35Z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